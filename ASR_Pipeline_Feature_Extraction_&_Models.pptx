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26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760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5C582C-1768-41DF-8187-C8F30248B6BB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1123BD-03EF-4AD1-85CE-156742CB66A4}">
      <dgm:prSet phldrT="[Text]" phldr="0"/>
      <dgm:spPr/>
      <dgm:t>
        <a:bodyPr/>
        <a:lstStyle/>
        <a:p>
          <a:r>
            <a:rPr lang="en-US" dirty="0"/>
            <a:t>Audio Wave</a:t>
          </a:r>
        </a:p>
      </dgm:t>
    </dgm:pt>
    <dgm:pt modelId="{9A5B3D1D-AC13-4A67-A263-7C4676E77376}" type="parTrans" cxnId="{976DC0FF-2AAA-445F-A99E-B3BCCC795379}">
      <dgm:prSet/>
      <dgm:spPr/>
      <dgm:t>
        <a:bodyPr/>
        <a:lstStyle/>
        <a:p>
          <a:endParaRPr lang="en-US"/>
        </a:p>
      </dgm:t>
    </dgm:pt>
    <dgm:pt modelId="{EB0BEC08-DD7E-4198-B3E5-D271A7999A8D}" type="sibTrans" cxnId="{976DC0FF-2AAA-445F-A99E-B3BCCC795379}">
      <dgm:prSet/>
      <dgm:spPr/>
      <dgm:t>
        <a:bodyPr/>
        <a:lstStyle/>
        <a:p>
          <a:endParaRPr lang="en-US"/>
        </a:p>
      </dgm:t>
    </dgm:pt>
    <dgm:pt modelId="{8C6041C4-A62C-4B32-8FCD-B252AA9FB858}">
      <dgm:prSet phldrT="[Text]" phldr="0"/>
      <dgm:spPr/>
      <dgm:t>
        <a:bodyPr/>
        <a:lstStyle/>
        <a:p>
          <a:r>
            <a:rPr lang="en-US" dirty="0"/>
            <a:t>Pre-processing</a:t>
          </a:r>
        </a:p>
      </dgm:t>
    </dgm:pt>
    <dgm:pt modelId="{69844275-729D-436D-8A6B-0C493213ED95}" type="parTrans" cxnId="{85D997AD-761F-47B1-87B4-C3301D06F835}">
      <dgm:prSet/>
      <dgm:spPr/>
      <dgm:t>
        <a:bodyPr/>
        <a:lstStyle/>
        <a:p>
          <a:endParaRPr lang="en-US"/>
        </a:p>
      </dgm:t>
    </dgm:pt>
    <dgm:pt modelId="{954A5F41-C0E0-45CE-8D80-7C0C37D1E948}" type="sibTrans" cxnId="{85D997AD-761F-47B1-87B4-C3301D06F835}">
      <dgm:prSet/>
      <dgm:spPr/>
      <dgm:t>
        <a:bodyPr/>
        <a:lstStyle/>
        <a:p>
          <a:endParaRPr lang="en-US"/>
        </a:p>
      </dgm:t>
    </dgm:pt>
    <dgm:pt modelId="{CBEE01B1-A25C-46B4-B557-57BFF43F3897}">
      <dgm:prSet phldrT="[Text]" phldr="0"/>
      <dgm:spPr/>
      <dgm:t>
        <a:bodyPr/>
        <a:lstStyle/>
        <a:p>
          <a:r>
            <a:rPr lang="en-US" dirty="0"/>
            <a:t>FFT Features</a:t>
          </a:r>
        </a:p>
      </dgm:t>
    </dgm:pt>
    <dgm:pt modelId="{9D4D550B-EB38-481E-A8B1-32370A4DAD7D}" type="parTrans" cxnId="{036AC57E-320A-4D66-94E9-008E24D6FA1C}">
      <dgm:prSet/>
      <dgm:spPr/>
      <dgm:t>
        <a:bodyPr/>
        <a:lstStyle/>
        <a:p>
          <a:endParaRPr lang="en-US"/>
        </a:p>
      </dgm:t>
    </dgm:pt>
    <dgm:pt modelId="{01DF5A2B-0754-41BB-B71E-E4ED8F65341F}" type="sibTrans" cxnId="{036AC57E-320A-4D66-94E9-008E24D6FA1C}">
      <dgm:prSet/>
      <dgm:spPr/>
      <dgm:t>
        <a:bodyPr/>
        <a:lstStyle/>
        <a:p>
          <a:endParaRPr lang="en-US"/>
        </a:p>
      </dgm:t>
    </dgm:pt>
    <dgm:pt modelId="{BCBB491C-7893-4F43-A17B-D600626BFBBB}">
      <dgm:prSet/>
      <dgm:spPr/>
      <dgm:t>
        <a:bodyPr/>
        <a:lstStyle/>
        <a:p>
          <a:r>
            <a:rPr lang="en-US" dirty="0"/>
            <a:t>Acoustic Model</a:t>
          </a:r>
        </a:p>
      </dgm:t>
    </dgm:pt>
    <dgm:pt modelId="{3100AF00-B758-40C9-9D62-9DC09114B8E1}" type="parTrans" cxnId="{85C8D7B8-4A88-4DE0-A777-CD922DC910EB}">
      <dgm:prSet/>
      <dgm:spPr/>
      <dgm:t>
        <a:bodyPr/>
        <a:lstStyle/>
        <a:p>
          <a:endParaRPr lang="en-US"/>
        </a:p>
      </dgm:t>
    </dgm:pt>
    <dgm:pt modelId="{68C921F6-D2D0-419C-8C03-7AA5BB8E0685}" type="sibTrans" cxnId="{85C8D7B8-4A88-4DE0-A777-CD922DC910EB}">
      <dgm:prSet/>
      <dgm:spPr/>
      <dgm:t>
        <a:bodyPr/>
        <a:lstStyle/>
        <a:p>
          <a:endParaRPr lang="en-US"/>
        </a:p>
      </dgm:t>
    </dgm:pt>
    <dgm:pt modelId="{B6570E0D-A543-4A1E-906A-D2D156AFAFE4}">
      <dgm:prSet/>
      <dgm:spPr/>
      <dgm:t>
        <a:bodyPr/>
        <a:lstStyle/>
        <a:p>
          <a:r>
            <a:rPr lang="en-US" dirty="0"/>
            <a:t>Final Text</a:t>
          </a:r>
        </a:p>
      </dgm:t>
    </dgm:pt>
    <dgm:pt modelId="{701FD873-49E3-4EBE-9739-1D7ECC3EB66A}" type="parTrans" cxnId="{8D604CB6-32BF-44BB-832E-CEC8DCA76B58}">
      <dgm:prSet/>
      <dgm:spPr/>
      <dgm:t>
        <a:bodyPr/>
        <a:lstStyle/>
        <a:p>
          <a:endParaRPr lang="en-US"/>
        </a:p>
      </dgm:t>
    </dgm:pt>
    <dgm:pt modelId="{6559360F-76FD-480F-8FF0-9DA44CAC142F}" type="sibTrans" cxnId="{8D604CB6-32BF-44BB-832E-CEC8DCA76B58}">
      <dgm:prSet/>
      <dgm:spPr/>
      <dgm:t>
        <a:bodyPr/>
        <a:lstStyle/>
        <a:p>
          <a:endParaRPr lang="en-US"/>
        </a:p>
      </dgm:t>
    </dgm:pt>
    <dgm:pt modelId="{0DAEC3EF-126D-4F47-8FB8-56C128269A55}" type="pres">
      <dgm:prSet presAssocID="{DE5C582C-1768-41DF-8187-C8F30248B6BB}" presName="Name0" presStyleCnt="0">
        <dgm:presLayoutVars>
          <dgm:dir/>
          <dgm:animLvl val="lvl"/>
          <dgm:resizeHandles val="exact"/>
        </dgm:presLayoutVars>
      </dgm:prSet>
      <dgm:spPr/>
    </dgm:pt>
    <dgm:pt modelId="{5E8A062B-2313-4659-A521-EE35FE9B199A}" type="pres">
      <dgm:prSet presAssocID="{D41123BD-03EF-4AD1-85CE-156742CB66A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663423E3-4AC2-4821-847A-C2F112AEBA34}" type="pres">
      <dgm:prSet presAssocID="{EB0BEC08-DD7E-4198-B3E5-D271A7999A8D}" presName="parTxOnlySpace" presStyleCnt="0"/>
      <dgm:spPr/>
    </dgm:pt>
    <dgm:pt modelId="{17A4406F-EC9C-4409-B961-811C601939A6}" type="pres">
      <dgm:prSet presAssocID="{8C6041C4-A62C-4B32-8FCD-B252AA9FB858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DDDF76FC-E8AB-4670-9D67-AABF3230BFA0}" type="pres">
      <dgm:prSet presAssocID="{954A5F41-C0E0-45CE-8D80-7C0C37D1E948}" presName="parTxOnlySpace" presStyleCnt="0"/>
      <dgm:spPr/>
    </dgm:pt>
    <dgm:pt modelId="{62CC328F-1E8E-423E-8F65-7F05E8F67220}" type="pres">
      <dgm:prSet presAssocID="{CBEE01B1-A25C-46B4-B557-57BFF43F3897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3CB4A634-939C-4F84-A90D-B99EBC3372A7}" type="pres">
      <dgm:prSet presAssocID="{01DF5A2B-0754-41BB-B71E-E4ED8F65341F}" presName="parTxOnlySpace" presStyleCnt="0"/>
      <dgm:spPr/>
    </dgm:pt>
    <dgm:pt modelId="{61FAAD25-8C67-40AF-842F-847725FCE59E}" type="pres">
      <dgm:prSet presAssocID="{BCBB491C-7893-4F43-A17B-D600626BFBB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E091A53-2FBD-47C7-AB77-01269367D154}" type="pres">
      <dgm:prSet presAssocID="{68C921F6-D2D0-419C-8C03-7AA5BB8E0685}" presName="parTxOnlySpace" presStyleCnt="0"/>
      <dgm:spPr/>
    </dgm:pt>
    <dgm:pt modelId="{D5692061-3D59-4621-829B-1C8508CA45A5}" type="pres">
      <dgm:prSet presAssocID="{B6570E0D-A543-4A1E-906A-D2D156AFAFE4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86134438-946D-4135-AAE2-B5B7511C1EF3}" type="presOf" srcId="{B6570E0D-A543-4A1E-906A-D2D156AFAFE4}" destId="{D5692061-3D59-4621-829B-1C8508CA45A5}" srcOrd="0" destOrd="0" presId="urn:microsoft.com/office/officeart/2005/8/layout/chevron1"/>
    <dgm:cxn modelId="{B18EF63A-D71E-44E7-B981-3C6D84739645}" type="presOf" srcId="{8C6041C4-A62C-4B32-8FCD-B252AA9FB858}" destId="{17A4406F-EC9C-4409-B961-811C601939A6}" srcOrd="0" destOrd="0" presId="urn:microsoft.com/office/officeart/2005/8/layout/chevron1"/>
    <dgm:cxn modelId="{D0DA4F74-536A-4C9B-9914-C9C2C433B0CE}" type="presOf" srcId="{DE5C582C-1768-41DF-8187-C8F30248B6BB}" destId="{0DAEC3EF-126D-4F47-8FB8-56C128269A55}" srcOrd="0" destOrd="0" presId="urn:microsoft.com/office/officeart/2005/8/layout/chevron1"/>
    <dgm:cxn modelId="{036AC57E-320A-4D66-94E9-008E24D6FA1C}" srcId="{DE5C582C-1768-41DF-8187-C8F30248B6BB}" destId="{CBEE01B1-A25C-46B4-B557-57BFF43F3897}" srcOrd="2" destOrd="0" parTransId="{9D4D550B-EB38-481E-A8B1-32370A4DAD7D}" sibTransId="{01DF5A2B-0754-41BB-B71E-E4ED8F65341F}"/>
    <dgm:cxn modelId="{A8AA3488-17A2-4E32-B5DB-D37844633A39}" type="presOf" srcId="{BCBB491C-7893-4F43-A17B-D600626BFBBB}" destId="{61FAAD25-8C67-40AF-842F-847725FCE59E}" srcOrd="0" destOrd="0" presId="urn:microsoft.com/office/officeart/2005/8/layout/chevron1"/>
    <dgm:cxn modelId="{98FE228B-0A74-4CB7-AABC-6C1F3035C16E}" type="presOf" srcId="{D41123BD-03EF-4AD1-85CE-156742CB66A4}" destId="{5E8A062B-2313-4659-A521-EE35FE9B199A}" srcOrd="0" destOrd="0" presId="urn:microsoft.com/office/officeart/2005/8/layout/chevron1"/>
    <dgm:cxn modelId="{85D997AD-761F-47B1-87B4-C3301D06F835}" srcId="{DE5C582C-1768-41DF-8187-C8F30248B6BB}" destId="{8C6041C4-A62C-4B32-8FCD-B252AA9FB858}" srcOrd="1" destOrd="0" parTransId="{69844275-729D-436D-8A6B-0C493213ED95}" sibTransId="{954A5F41-C0E0-45CE-8D80-7C0C37D1E948}"/>
    <dgm:cxn modelId="{3BA6F0AE-8CB0-45F6-B2AF-426CE6ECDD5E}" type="presOf" srcId="{CBEE01B1-A25C-46B4-B557-57BFF43F3897}" destId="{62CC328F-1E8E-423E-8F65-7F05E8F67220}" srcOrd="0" destOrd="0" presId="urn:microsoft.com/office/officeart/2005/8/layout/chevron1"/>
    <dgm:cxn modelId="{8D604CB6-32BF-44BB-832E-CEC8DCA76B58}" srcId="{DE5C582C-1768-41DF-8187-C8F30248B6BB}" destId="{B6570E0D-A543-4A1E-906A-D2D156AFAFE4}" srcOrd="4" destOrd="0" parTransId="{701FD873-49E3-4EBE-9739-1D7ECC3EB66A}" sibTransId="{6559360F-76FD-480F-8FF0-9DA44CAC142F}"/>
    <dgm:cxn modelId="{85C8D7B8-4A88-4DE0-A777-CD922DC910EB}" srcId="{DE5C582C-1768-41DF-8187-C8F30248B6BB}" destId="{BCBB491C-7893-4F43-A17B-D600626BFBBB}" srcOrd="3" destOrd="0" parTransId="{3100AF00-B758-40C9-9D62-9DC09114B8E1}" sibTransId="{68C921F6-D2D0-419C-8C03-7AA5BB8E0685}"/>
    <dgm:cxn modelId="{976DC0FF-2AAA-445F-A99E-B3BCCC795379}" srcId="{DE5C582C-1768-41DF-8187-C8F30248B6BB}" destId="{D41123BD-03EF-4AD1-85CE-156742CB66A4}" srcOrd="0" destOrd="0" parTransId="{9A5B3D1D-AC13-4A67-A263-7C4676E77376}" sibTransId="{EB0BEC08-DD7E-4198-B3E5-D271A7999A8D}"/>
    <dgm:cxn modelId="{1C54CED6-E63B-4209-8DF3-3C8FB031EE34}" type="presParOf" srcId="{0DAEC3EF-126D-4F47-8FB8-56C128269A55}" destId="{5E8A062B-2313-4659-A521-EE35FE9B199A}" srcOrd="0" destOrd="0" presId="urn:microsoft.com/office/officeart/2005/8/layout/chevron1"/>
    <dgm:cxn modelId="{3B95AF87-BBF0-4CA5-B5A9-7170381C6934}" type="presParOf" srcId="{0DAEC3EF-126D-4F47-8FB8-56C128269A55}" destId="{663423E3-4AC2-4821-847A-C2F112AEBA34}" srcOrd="1" destOrd="0" presId="urn:microsoft.com/office/officeart/2005/8/layout/chevron1"/>
    <dgm:cxn modelId="{025774A5-7F97-4E2B-A3FC-6C6FF5D72F00}" type="presParOf" srcId="{0DAEC3EF-126D-4F47-8FB8-56C128269A55}" destId="{17A4406F-EC9C-4409-B961-811C601939A6}" srcOrd="2" destOrd="0" presId="urn:microsoft.com/office/officeart/2005/8/layout/chevron1"/>
    <dgm:cxn modelId="{2453020D-7730-432E-844D-CC523D3FA60D}" type="presParOf" srcId="{0DAEC3EF-126D-4F47-8FB8-56C128269A55}" destId="{DDDF76FC-E8AB-4670-9D67-AABF3230BFA0}" srcOrd="3" destOrd="0" presId="urn:microsoft.com/office/officeart/2005/8/layout/chevron1"/>
    <dgm:cxn modelId="{9041FD70-3790-4E7E-9D3B-D6FE77A59888}" type="presParOf" srcId="{0DAEC3EF-126D-4F47-8FB8-56C128269A55}" destId="{62CC328F-1E8E-423E-8F65-7F05E8F67220}" srcOrd="4" destOrd="0" presId="urn:microsoft.com/office/officeart/2005/8/layout/chevron1"/>
    <dgm:cxn modelId="{6F7060E4-9154-46BE-80C8-E71BCA299DF1}" type="presParOf" srcId="{0DAEC3EF-126D-4F47-8FB8-56C128269A55}" destId="{3CB4A634-939C-4F84-A90D-B99EBC3372A7}" srcOrd="5" destOrd="0" presId="urn:microsoft.com/office/officeart/2005/8/layout/chevron1"/>
    <dgm:cxn modelId="{286B62ED-57B3-4090-9558-DBDE97B27811}" type="presParOf" srcId="{0DAEC3EF-126D-4F47-8FB8-56C128269A55}" destId="{61FAAD25-8C67-40AF-842F-847725FCE59E}" srcOrd="6" destOrd="0" presId="urn:microsoft.com/office/officeart/2005/8/layout/chevron1"/>
    <dgm:cxn modelId="{01B62630-29DC-4499-8E7C-4234029B01A6}" type="presParOf" srcId="{0DAEC3EF-126D-4F47-8FB8-56C128269A55}" destId="{DE091A53-2FBD-47C7-AB77-01269367D154}" srcOrd="7" destOrd="0" presId="urn:microsoft.com/office/officeart/2005/8/layout/chevron1"/>
    <dgm:cxn modelId="{45790155-82D1-411D-8A9D-1AEF6B6B6826}" type="presParOf" srcId="{0DAEC3EF-126D-4F47-8FB8-56C128269A55}" destId="{D5692061-3D59-4621-829B-1C8508CA45A5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A062B-2313-4659-A521-EE35FE9B199A}">
      <dsp:nvSpPr>
        <dsp:cNvPr id="0" name=""/>
        <dsp:cNvSpPr/>
      </dsp:nvSpPr>
      <dsp:spPr>
        <a:xfrm>
          <a:off x="725" y="589593"/>
          <a:ext cx="645469" cy="2581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Audio Wave</a:t>
          </a:r>
        </a:p>
      </dsp:txBody>
      <dsp:txXfrm>
        <a:off x="129819" y="589593"/>
        <a:ext cx="387282" cy="258187"/>
      </dsp:txXfrm>
    </dsp:sp>
    <dsp:sp modelId="{17A4406F-EC9C-4409-B961-811C601939A6}">
      <dsp:nvSpPr>
        <dsp:cNvPr id="0" name=""/>
        <dsp:cNvSpPr/>
      </dsp:nvSpPr>
      <dsp:spPr>
        <a:xfrm>
          <a:off x="581647" y="589593"/>
          <a:ext cx="645469" cy="2581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Pre-processing</a:t>
          </a:r>
        </a:p>
      </dsp:txBody>
      <dsp:txXfrm>
        <a:off x="710741" y="589593"/>
        <a:ext cx="387282" cy="258187"/>
      </dsp:txXfrm>
    </dsp:sp>
    <dsp:sp modelId="{62CC328F-1E8E-423E-8F65-7F05E8F67220}">
      <dsp:nvSpPr>
        <dsp:cNvPr id="0" name=""/>
        <dsp:cNvSpPr/>
      </dsp:nvSpPr>
      <dsp:spPr>
        <a:xfrm>
          <a:off x="1162569" y="589593"/>
          <a:ext cx="645469" cy="2581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FFT Features</a:t>
          </a:r>
        </a:p>
      </dsp:txBody>
      <dsp:txXfrm>
        <a:off x="1291663" y="589593"/>
        <a:ext cx="387282" cy="258187"/>
      </dsp:txXfrm>
    </dsp:sp>
    <dsp:sp modelId="{61FAAD25-8C67-40AF-842F-847725FCE59E}">
      <dsp:nvSpPr>
        <dsp:cNvPr id="0" name=""/>
        <dsp:cNvSpPr/>
      </dsp:nvSpPr>
      <dsp:spPr>
        <a:xfrm>
          <a:off x="1743491" y="589593"/>
          <a:ext cx="645469" cy="2581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Acoustic Model</a:t>
          </a:r>
        </a:p>
      </dsp:txBody>
      <dsp:txXfrm>
        <a:off x="1872585" y="589593"/>
        <a:ext cx="387282" cy="258187"/>
      </dsp:txXfrm>
    </dsp:sp>
    <dsp:sp modelId="{D5692061-3D59-4621-829B-1C8508CA45A5}">
      <dsp:nvSpPr>
        <dsp:cNvPr id="0" name=""/>
        <dsp:cNvSpPr/>
      </dsp:nvSpPr>
      <dsp:spPr>
        <a:xfrm>
          <a:off x="2324413" y="589593"/>
          <a:ext cx="645469" cy="2581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Final Text</a:t>
          </a:r>
        </a:p>
      </dsp:txBody>
      <dsp:txXfrm>
        <a:off x="2453507" y="589593"/>
        <a:ext cx="387282" cy="258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93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9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0.png"/><Relationship Id="rId9" Type="http://schemas.microsoft.com/office/2007/relationships/diagramDrawing" Target="../diagrams/drawin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94650"/>
            <a:ext cx="4587236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11111"/>
                </a:solidFill>
              </a:rPr>
              <a:t>ASR Pipeline: From Signal to Features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2543342"/>
            <a:ext cx="4587236" cy="72509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4F00"/>
                </a:solidFill>
              </a:rPr>
              <a:t>Manual Implementation of Digital Signal Processing (DSP) Algorithms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571500" y="3554183"/>
            <a:ext cx="1077218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By T07A, Mahmoud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736" y="1916395"/>
            <a:ext cx="3413764" cy="12767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Stage 3 - Feature Extraction: Creating the Audio Fingerprint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The Computational Challenge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543050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14375" y="1544836"/>
            <a:ext cx="3394593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Problem:Raw audio is high-dimensional, redundant, and computationally prohibitive for AI models.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974521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14375" y="1976307"/>
            <a:ext cx="326162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Requires excessive resources and training time if used directly.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405993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The Feature Engineering Solution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270781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14375" y="2709602"/>
            <a:ext cx="3378910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Solution: Transforms the raw signal into a compact, informative, and perceptually relevant representation.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3139287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14375" y="3141073"/>
            <a:ext cx="26707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This critical step makes the AI task tractable.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3390742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Analogy: Forensic Fingerprint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71500" y="3692565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714375" y="3694351"/>
            <a:ext cx="347445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Extracting the unique, stable characteristics—the audio fingerprint—that define the sound.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72038" y="1241227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The Four Core DSP Steps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872038" y="1578769"/>
            <a:ext cx="3700463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Pre-emphasis: Spectral Balancing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872038" y="1880592"/>
            <a:ext cx="3700463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Framing &amp; Windowing: Localizing the Signal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4872038" y="2182416"/>
            <a:ext cx="3700463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FFT: Time-to-Frequency Conversion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4872038" y="2484239"/>
            <a:ext cx="3700463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Mel-Filtering (Implicit): Perceptual Compression</a:t>
            </a:r>
            <a:endParaRPr lang="en-US" sz="987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0669" y="3114675"/>
            <a:ext cx="274320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Pre-emphasis: Mitigating Spectral Tilt and Glottal Effects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14375" y="1243013"/>
            <a:ext cx="3549021" cy="346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Mitigates Spectral Tilt: Balances the spectrum by compensating for the natural low-frequency bias in human speech.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1852715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14375" y="1854501"/>
            <a:ext cx="3465054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Boosts High Frequencies: Acts as a high-pass filter to improve the signal-to-noise ratio for subsequent analysis.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1378557" y="2284186"/>
            <a:ext cx="2500685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First-Order Difference Equation (alpha = 0.97)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621728"/>
            <a:ext cx="411480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47AB"/>
                </a:solidFill>
              </a:rPr>
              <a:t>$y[n] = x[n] - 0.97 \times x[n-1]$</a:t>
            </a:r>
            <a:endParaRPr lang="en-US" sz="1808" dirty="0"/>
          </a:p>
        </p:txBody>
      </p:sp>
      <p:sp>
        <p:nvSpPr>
          <p:cNvPr id="12" name="Text 9"/>
          <p:cNvSpPr/>
          <p:nvPr/>
        </p:nvSpPr>
        <p:spPr>
          <a:xfrm>
            <a:off x="571500" y="3525441"/>
            <a:ext cx="41148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111111"/>
                </a:solidFill>
              </a:rPr>
              <a:t>NumPy Implementation Logic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71500" y="3862983"/>
            <a:ext cx="4114800" cy="709017"/>
          </a:xfrm>
          <a:prstGeom prst="rect">
            <a:avLst/>
          </a:prstGeom>
          <a:solidFill>
            <a:srgbClr val="F0F0F0"/>
          </a:solidFill>
          <a:ln w="18288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71500" y="3862983"/>
            <a:ext cx="4114800" cy="7090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# y[n] = x[n] - 0.97 * x[n-1]</a:t>
            </a:r>
            <a:endParaRPr lang="en-US" sz="834" dirty="0"/>
          </a:p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emphasized[n] = signal[n] - 0.97 * signal[n-1]</a:t>
            </a:r>
            <a:endParaRPr lang="en-US" sz="834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088" y="2021625"/>
            <a:ext cx="3300413" cy="1736015"/>
          </a:xfrm>
          <a:prstGeom prst="rect">
            <a:avLst/>
          </a:prstGeom>
        </p:spPr>
      </p:pic>
      <p:pic>
        <p:nvPicPr>
          <p:cNvPr id="17" name="Picture 16" descr="A number on a black background&#10;&#10;AI-generated content may be incorrect.">
            <a:extLst>
              <a:ext uri="{FF2B5EF4-FFF2-40B4-BE49-F238E27FC236}">
                <a16:creationId xmlns:a16="http://schemas.microsoft.com/office/drawing/2014/main" id="{63659C61-330A-7188-FE7C-219918420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62024"/>
            <a:ext cx="3753374" cy="676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227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Framing &amp; Hamming Window: Ensuring Short-Term Stationarity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Framing: Quasi-Stationary Segments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507331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14375" y="1509117"/>
            <a:ext cx="3181961" cy="16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Quasi-Stationary: Speech is treated as stable over short intervals.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75878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14375" y="1760572"/>
            <a:ext cx="4160983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Segmentation: Audio is split into short, overlapping frames (e.g., 25ms</a:t>
            </a:r>
            <a:r>
              <a:rPr lang="ar-EG" sz="942" dirty="0">
                <a:solidFill>
                  <a:srgbClr val="111111"/>
                </a:solidFill>
              </a:rPr>
              <a:t> </a:t>
            </a:r>
            <a:r>
              <a:rPr lang="en-US" sz="942" dirty="0">
                <a:solidFill>
                  <a:srgbClr val="111111"/>
                </a:solidFill>
              </a:rPr>
              <a:t>frame, 10ms overlap).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190257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The Windowing Problem: Spectral Leakage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2456362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14375" y="2458148"/>
            <a:ext cx="4075454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Problem: Abrupt frame truncation causes discontinuities at the edges.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887833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14375" y="2889619"/>
            <a:ext cx="3979292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Result: This introduces spurious high-frequency components, known as Spectral Leakage.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3319304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The Hamming Solution: Smooth Tapering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571500" y="3585409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714375" y="3587195"/>
            <a:ext cx="4298305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 err="1">
                <a:solidFill>
                  <a:srgbClr val="111111"/>
                </a:solidFill>
              </a:rPr>
              <a:t>Solution:The</a:t>
            </a:r>
            <a:r>
              <a:rPr lang="en-US" sz="942" dirty="0">
                <a:solidFill>
                  <a:srgbClr val="111111"/>
                </a:solidFill>
              </a:rPr>
              <a:t> Hamming window smoothly tapers the signal to zero at the frame boundaries.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71500" y="4016880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714375" y="4018666"/>
            <a:ext cx="369781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Effect: Minimizes discontinuities and prevents Spectral Leakage.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647048" y="4579972"/>
            <a:ext cx="4343400" cy="460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97" b="1" dirty="0">
                <a:solidFill>
                  <a:srgbClr val="111111"/>
                </a:solidFill>
              </a:rPr>
              <a:t>$$w[n] = 0.54 - 0.46 \cos\left(\frac{2\pi n}{N-1}\right)$$</a:t>
            </a:r>
            <a:endParaRPr lang="en-US" sz="1397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2049921"/>
            <a:ext cx="2900363" cy="2364079"/>
          </a:xfrm>
          <a:prstGeom prst="rect">
            <a:avLst/>
          </a:prstGeom>
        </p:spPr>
      </p:pic>
      <p:pic>
        <p:nvPicPr>
          <p:cNvPr id="24" name="Picture 2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DE0E4E4-DFA9-F112-AB56-455BC9310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48351"/>
            <a:ext cx="4529140" cy="796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142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FFT: Converting Time-Domain Energy to Frequency-Domain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Concept: Domain Transformation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507331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714375" y="1509117"/>
            <a:ext cx="433957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FFT converts the time-domain signal of each frame into the **frequency domain.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938803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714375" y="1940589"/>
            <a:ext cx="4223212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Reveals the underlying spectral content and energy distribution of the sound.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571500" y="2584586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Tool Choice: Optimized Real FFT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571500" y="2850691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714375" y="2852477"/>
            <a:ext cx="30582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Manual implementation uses `np.fft.rfft` (Real FFT).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3102146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714375" y="3103931"/>
            <a:ext cx="3848500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Optimization: Computes only non-redundant positive frequency components (input is real-valued).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71500" y="3533617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14375" y="3535403"/>
            <a:ext cx="359492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Significantly reduces computation time and memory usage.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3999384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Output: Power Spectrum &amp; Spectrogram Foundation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571500" y="4265488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714375" y="4267274"/>
            <a:ext cx="365344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Output: The Power Spectrum (energy at each frequency bin).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571500" y="4516943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714375" y="4518729"/>
            <a:ext cx="3759147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Result: A matrix of (Frames × Frequencies), the foundation of a Spectrogram.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71500" y="4948414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714375" y="4950200"/>
            <a:ext cx="372878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This is the final output of the manual NumPy implementation.</a:t>
            </a:r>
            <a:endParaRPr lang="en-US" sz="942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1559068"/>
            <a:ext cx="2928938" cy="3537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16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Theoretical Next Steps: MFCCs for Production Systems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571500" y="2035969"/>
            <a:ext cx="65" cy="223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82321" y="2051258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Mel-Filter Bank: Perceptual Compression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736601" y="2280969"/>
            <a:ext cx="4210403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50" dirty="0"/>
              <a:t>Implemented a manual bank of 40 triangular filters spanning 0 Hz to 7350 Hz (Nyquist) to mimic human ear perception.</a:t>
            </a:r>
          </a:p>
        </p:txBody>
      </p:sp>
      <p:sp>
        <p:nvSpPr>
          <p:cNvPr id="11" name="Text 8"/>
          <p:cNvSpPr/>
          <p:nvPr/>
        </p:nvSpPr>
        <p:spPr>
          <a:xfrm>
            <a:off x="571500" y="2814638"/>
            <a:ext cx="65" cy="223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82321" y="2843679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Log Energy: Loudness Mimicry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736601" y="3073390"/>
            <a:ext cx="3987803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50" dirty="0"/>
              <a:t>Applied Natural Logarithm (np.log) with stability epsilon (1e-10) to compress dynamic range.</a:t>
            </a:r>
          </a:p>
        </p:txBody>
      </p:sp>
      <p:sp>
        <p:nvSpPr>
          <p:cNvPr id="14" name="Text 11"/>
          <p:cNvSpPr/>
          <p:nvPr/>
        </p:nvSpPr>
        <p:spPr>
          <a:xfrm>
            <a:off x="571500" y="3593306"/>
            <a:ext cx="65" cy="223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82321" y="3636100"/>
            <a:ext cx="42291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111111"/>
                </a:solidFill>
              </a:rPr>
              <a:t>Discrete Cosine Transform (DCT): Decorrelation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736601" y="3938467"/>
            <a:ext cx="4202534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50" dirty="0"/>
              <a:t>Performed manual Type-II DCT to extract the top 13 MFCC Coefficients, resulting in a final feature shape of (60960, 13).</a:t>
            </a:r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2423210"/>
            <a:ext cx="2900363" cy="966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909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Stage 4: Modeling - The Neural Network Core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14375" y="1243013"/>
            <a:ext cx="3710676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Paradigm Shift: Transition from deterministic DSP to probabilistic, data-driven Neural Networks.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1672698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14375" y="1674484"/>
            <a:ext cx="397348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Input: Robust feature vectors from Stage 3 are fed into the AI models for inference.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571500" y="2104169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The Acoustic Model (AM)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2370274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714375" y="2372060"/>
            <a:ext cx="4068003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Function: Maps feature vectors (e.g., MFCCs) to Phonemes</a:t>
            </a:r>
            <a:r>
              <a:rPr lang="ar-EG" sz="942" dirty="0">
                <a:solidFill>
                  <a:srgbClr val="111111"/>
                </a:solidFill>
              </a:rPr>
              <a:t> </a:t>
            </a:r>
            <a:r>
              <a:rPr lang="en-US" sz="942" dirty="0">
                <a:solidFill>
                  <a:srgbClr val="111111"/>
                </a:solidFill>
              </a:rPr>
              <a:t>(basic sound units).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2801745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714375" y="2803531"/>
            <a:ext cx="420097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Output: Probability distribution over possible phonemes for each time-step.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71500" y="3447529"/>
            <a:ext cx="45148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The Language Model (LM)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571500" y="3713634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714375" y="3715420"/>
            <a:ext cx="4305505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Function: Applies grammar, syntax, and context to form a coherent sentence.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571500" y="4145105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714375" y="4146891"/>
            <a:ext cx="4238141" cy="1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Role: Resolves ambiguities and ensures the output is linguistically plausible.</a:t>
            </a:r>
            <a:endParaRPr lang="en-US" sz="942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1858017"/>
            <a:ext cx="2900363" cy="22821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The Language Model: Resolving Ambiguity and Context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098352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714375" y="1100138"/>
            <a:ext cx="426615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Challenge of Homophones: AM output can correspond to multiple valid word sequences.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1529823"/>
            <a:ext cx="11430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■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714375" y="1531609"/>
            <a:ext cx="3770058" cy="355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LM's Role: Statistical/Neural Network model that calculates the probability of a word sequence occurring in a given language.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2089882"/>
            <a:ext cx="4514850" cy="1937742"/>
          </a:xfrm>
          <a:prstGeom prst="rect">
            <a:avLst/>
          </a:prstGeom>
          <a:solidFill>
            <a:srgbClr val="F0F0F0"/>
          </a:solidFill>
          <a:ln w="18288">
            <a:solidFill>
              <a:srgbClr val="0047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1513" y="2189894"/>
            <a:ext cx="43148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F00"/>
                </a:solidFill>
              </a:rPr>
              <a:t>The Classic Ambiguity Example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71513" y="2427424"/>
            <a:ext cx="43148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Acoustic Model Output (Phonemes):</a:t>
            </a:r>
            <a:r>
              <a:rPr lang="en-US" sz="942" dirty="0">
                <a:solidFill>
                  <a:srgbClr val="111111"/>
                </a:solidFill>
              </a:rPr>
              <a:t> "reh - cog - nize - speech"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671513" y="2650666"/>
            <a:ext cx="16452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Possible Word Sequences: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814388" y="2856049"/>
            <a:ext cx="41719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1. "Wreck a nice beach" (Low probability)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814388" y="3070361"/>
            <a:ext cx="41719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111111"/>
                </a:solidFill>
              </a:rPr>
              <a:t>2. "Recognize speech" (High probability)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71513" y="3284674"/>
            <a:ext cx="43148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11111"/>
                </a:solidFill>
              </a:rPr>
              <a:t>LM's Decision:</a:t>
            </a:r>
            <a:r>
              <a:rPr lang="en-US" sz="942" dirty="0">
                <a:solidFill>
                  <a:srgbClr val="111111"/>
                </a:solidFill>
              </a:rPr>
              <a:t> The LM selects the sequence with the highest linguistic probability, ensuring the output is coherent and contextually appropriate.</a:t>
            </a:r>
            <a:endParaRPr lang="en-US" sz="885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2138" y="2119740"/>
            <a:ext cx="2900363" cy="972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41314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The Final Flow: From Audio Wave to Final Text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332365"/>
            <a:ext cx="211455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111111"/>
                </a:solidFill>
              </a:rPr>
              <a:t>The entire ASR pipeline is a cascade of transformations, each step reducing dimensionality and increasing the information density of the signal.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571500" y="2206693"/>
            <a:ext cx="2114550" cy="1168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47AB"/>
                </a:solidFill>
              </a:rPr>
              <a:t>The manual DSP script successfully bridges the gap, providing the compact, robust features that enable the deep learning models to perform their task efficiently.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3481853"/>
            <a:ext cx="2114550" cy="162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endParaRPr lang="en-US" sz="834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300" y="1241227"/>
            <a:ext cx="4453710" cy="3571847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4D49F58-1163-F334-C336-CAFE68EC7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2341885"/>
              </p:ext>
            </p:extLst>
          </p:nvPr>
        </p:nvGraphicFramePr>
        <p:xfrm>
          <a:off x="0" y="3279700"/>
          <a:ext cx="2970608" cy="1437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1600" y="571500"/>
            <a:ext cx="6400800" cy="38397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371600" y="926902"/>
            <a:ext cx="6400800" cy="28575"/>
          </a:xfrm>
          <a:prstGeom prst="rect">
            <a:avLst/>
          </a:prstGeom>
          <a:solidFill>
            <a:srgbClr val="0047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71600" y="571500"/>
            <a:ext cx="6400800" cy="383977"/>
          </a:xfrm>
          <a:prstGeom prst="rect">
            <a:avLst/>
          </a:prstGeom>
          <a:noFill/>
          <a:ln/>
        </p:spPr>
        <p:txBody>
          <a:bodyPr wrap="none" lIns="0" tIns="0" rIns="0" bIns="51054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4F00"/>
                </a:solidFill>
              </a:rPr>
              <a:t>Key Takeaways and Q&amp;A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1771650" y="1098352"/>
            <a:ext cx="171450" cy="23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■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2057400" y="1096566"/>
            <a:ext cx="4857024" cy="446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111111"/>
                </a:solidFill>
              </a:rPr>
              <a:t>Hybrid System: ASR is a powerful hybrid of classical DSP (Feature Engineering) and modern AI (Modeling).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1771650" y="1689832"/>
            <a:ext cx="171450" cy="23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■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2057400" y="1688046"/>
            <a:ext cx="5173331" cy="696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111111"/>
                </a:solidFill>
              </a:rPr>
              <a:t>Feature Engineering is Foundational: The manual DSP steps (Pre-emphasis, Framing, Windowing, FFT) are the critical bridge that makes the AI task computationally tractable.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1771650" y="2512758"/>
            <a:ext cx="171450" cy="23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0047AB"/>
                </a:solidFill>
              </a:rPr>
              <a:t>■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2057400" y="2510972"/>
            <a:ext cx="5273985" cy="446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69" dirty="0">
                <a:solidFill>
                  <a:srgbClr val="111111"/>
                </a:solidFill>
              </a:rPr>
              <a:t>Two Brains: The Acoustic Model handles sound-to-phoneme mapping, while the Language Model ensures linguistic coherence and resolves ambiguity.</a:t>
            </a:r>
            <a:endParaRPr lang="en-US" sz="1269" dirty="0"/>
          </a:p>
        </p:txBody>
      </p:sp>
      <p:sp>
        <p:nvSpPr>
          <p:cNvPr id="12" name="Shape 9"/>
          <p:cNvSpPr/>
          <p:nvPr/>
        </p:nvSpPr>
        <p:spPr>
          <a:xfrm>
            <a:off x="1371600" y="3478560"/>
            <a:ext cx="6400800" cy="6457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1371600" y="3478560"/>
            <a:ext cx="6400800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71600" y="3478560"/>
            <a:ext cx="6400800" cy="645784"/>
          </a:xfrm>
          <a:prstGeom prst="rect">
            <a:avLst/>
          </a:prstGeom>
          <a:noFill/>
          <a:ln/>
        </p:spPr>
        <p:txBody>
          <a:bodyPr wrap="none" lIns="0" tIns="68072" rIns="0" bIns="68072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4F00"/>
                </a:solidFill>
              </a:rPr>
              <a:t>Thank you. Questions?</a:t>
            </a:r>
            <a:endParaRPr lang="en-US" sz="329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1002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Abdel Fattah Fathi El Sayed Marzouk</cp:lastModifiedBy>
  <cp:revision>5</cp:revision>
  <dcterms:created xsi:type="dcterms:W3CDTF">2025-12-06T19:14:46Z</dcterms:created>
  <dcterms:modified xsi:type="dcterms:W3CDTF">2025-12-06T20:57:34Z</dcterms:modified>
</cp:coreProperties>
</file>